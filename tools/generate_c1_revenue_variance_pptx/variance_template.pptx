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Actual</c:v>
                </c:pt>
              </c:strCache>
            </c:strRef>
          </c:tx>
          <c:spPr>
            <a:ln w="31750" cap="flat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16.07</c:v>
                </c:pt>
                <c:pt idx="1">
                  <c:v>16.09</c:v>
                </c:pt>
                <c:pt idx="2">
                  <c:v>16.579999999999998</c:v>
                </c:pt>
                <c:pt idx="3">
                  <c:v>19.68</c:v>
                </c:pt>
                <c:pt idx="4">
                  <c:v>18.02</c:v>
                </c:pt>
                <c:pt idx="5">
                  <c:v>17.82</c:v>
                </c:pt>
                <c:pt idx="6">
                  <c:v>12.94</c:v>
                </c:pt>
                <c:pt idx="7">
                  <c:v>10.99</c:v>
                </c:pt>
                <c:pt idx="8">
                  <c:v>20.05</c:v>
                </c:pt>
                <c:pt idx="9">
                  <c:v>16.420000000000002</c:v>
                </c:pt>
                <c:pt idx="10">
                  <c:v>19.38</c:v>
                </c:pt>
                <c:pt idx="11">
                  <c:v>27.83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BD-4C4A-8AE4-F9ECCCF508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Actual</c:v>
                </c:pt>
              </c:strCache>
            </c:strRef>
          </c:tx>
          <c:spPr>
            <a:ln w="31750" cap="flat">
              <a:solidFill>
                <a:srgbClr val="28A74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745"/>
              </a:solidFill>
              <a:ln w="9525" cap="flat">
                <a:solidFill>
                  <a:srgbClr val="28A745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24.06</c:v>
                </c:pt>
                <c:pt idx="1">
                  <c:v>24.23</c:v>
                </c:pt>
                <c:pt idx="2">
                  <c:v>21.61</c:v>
                </c:pt>
                <c:pt idx="3">
                  <c:v>20.62</c:v>
                </c:pt>
                <c:pt idx="4">
                  <c:v>21.65</c:v>
                </c:pt>
                <c:pt idx="5">
                  <c:v>26.81</c:v>
                </c:pt>
                <c:pt idx="6">
                  <c:v>18.920000000000002</c:v>
                </c:pt>
                <c:pt idx="7">
                  <c:v>14.09</c:v>
                </c:pt>
                <c:pt idx="8">
                  <c:v>29.7</c:v>
                </c:pt>
                <c:pt idx="9">
                  <c:v>21.95</c:v>
                </c:pt>
                <c:pt idx="10">
                  <c:v>25.17</c:v>
                </c:pt>
                <c:pt idx="11">
                  <c:v>35.94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BD-4C4A-8AE4-F9ECCCF508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Gross Revenue ($M)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PCs</c:v>
                </c:pt>
                <c:pt idx="1">
                  <c:v>Phones</c:v>
                </c:pt>
                <c:pt idx="2">
                  <c:v>Tablets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97.4</c:v>
                </c:pt>
                <c:pt idx="1">
                  <c:v>59.1</c:v>
                </c:pt>
                <c:pt idx="2">
                  <c:v>55.4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B9-BB40-BB29-2803F01B31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8A7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PCs</c:v>
                </c:pt>
                <c:pt idx="1">
                  <c:v>Phones</c:v>
                </c:pt>
                <c:pt idx="2">
                  <c:v>Tablets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174.2</c:v>
                </c:pt>
                <c:pt idx="1">
                  <c:v>58.5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B9-BB40-BB29-2803F01B31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Gross Revenue ($M)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Direct</c:v>
                </c:pt>
                <c:pt idx="1">
                  <c:v>Internet</c:v>
                </c:pt>
                <c:pt idx="2">
                  <c:v>Indirect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136.6</c:v>
                </c:pt>
                <c:pt idx="1">
                  <c:v>53.1</c:v>
                </c:pt>
                <c:pt idx="2">
                  <c:v>22.1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6C-1743-9BFE-B40F77C661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8A7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Direct</c:v>
                </c:pt>
                <c:pt idx="1">
                  <c:v>Internet</c:v>
                </c:pt>
                <c:pt idx="2">
                  <c:v>Indirect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165.1</c:v>
                </c:pt>
                <c:pt idx="1">
                  <c:v>76.599999999999994</c:v>
                </c:pt>
                <c:pt idx="2">
                  <c:v>43.1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6C-1743-9BFE-B40F77C661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GB" b="0" i="0" u="none" strike="noStrike">
                    <a:solidFill>
                      <a:srgbClr val="000000"/>
                    </a:solidFill>
                    <a:latin typeface="Arial"/>
                  </a:rPr>
                  <a:t>Gross Revenue ($M)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85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E9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081236"/>
            <a:ext cx="46074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00"/>
              </a:spcBef>
              <a:spcAft>
                <a:spcPts val="1200"/>
              </a:spcAft>
              <a:buNone/>
            </a:pPr>
            <a:r>
              <a:rPr lang="en-US" sz="1300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PLANNING ANALYTICS · REGION03N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1433661"/>
            <a:ext cx="762000" cy="38100"/>
          </a:xfrm>
          <a:prstGeom prst="rect">
            <a:avLst/>
          </a:prstGeom>
          <a:solidFill>
            <a:srgbClr val="1E9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999" y="1829098"/>
            <a:ext cx="6826578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814"/>
              </a:spcBef>
              <a:spcAft>
                <a:spcPts val="18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C1_Revenue</a:t>
            </a:r>
            <a:br>
              <a:rPr lang="en-US" sz="4200" dirty="0"/>
            </a:b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2000" y="3284339"/>
            <a:ext cx="46074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3000"/>
              </a:spcAft>
              <a:buNone/>
            </a:pPr>
            <a:r>
              <a:rPr lang="en-US" sz="16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vs. 2025 Actual Gross Revenue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903464"/>
            <a:ext cx="46074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Company · All Channels · All Products · Actual Version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01378"/>
          </a:xfrm>
          <a:prstGeom prst="rect">
            <a:avLst/>
          </a:prstGeom>
          <a:solidFill>
            <a:srgbClr val="0F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501378"/>
          </a:xfrm>
          <a:prstGeom prst="line">
            <a:avLst/>
          </a:prstGeom>
          <a:noFill/>
          <a:ln w="952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603200" y="482501"/>
            <a:ext cx="81935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Revenue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3200" y="1031677"/>
            <a:ext cx="81935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C1_Revenue Cube · Total Company · All Channels · All Products · Actual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1755279"/>
            <a:ext cx="1943100" cy="313432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1000" y="1779091"/>
            <a:ext cx="1943100" cy="0"/>
          </a:xfrm>
          <a:prstGeom prst="line">
            <a:avLst/>
          </a:prstGeom>
          <a:noFill/>
          <a:ln w="47625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902601" y="2516088"/>
            <a:ext cx="8998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Full Year</a:t>
            </a:r>
            <a:endParaRPr lang="en-US" sz="1000" dirty="0"/>
          </a:p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6471" y="3233440"/>
            <a:ext cx="12920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$211.9M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90608" y="4011216"/>
            <a:ext cx="9238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Year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27250" y="1755279"/>
            <a:ext cx="1943249" cy="313432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27250" y="1779091"/>
            <a:ext cx="1943249" cy="0"/>
          </a:xfrm>
          <a:prstGeom prst="line">
            <a:avLst/>
          </a:prstGeom>
          <a:noFill/>
          <a:ln w="47625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3048851" y="2516088"/>
            <a:ext cx="89989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Full Year</a:t>
            </a:r>
            <a:endParaRPr lang="en-US" sz="1000" dirty="0"/>
          </a:p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43610" y="3233440"/>
            <a:ext cx="13105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$284.8M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164982" y="4011216"/>
            <a:ext cx="667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+34.4%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73650" y="1755279"/>
            <a:ext cx="1943100" cy="313432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3650" y="1779091"/>
            <a:ext cx="1943100" cy="0"/>
          </a:xfrm>
          <a:prstGeom prst="line">
            <a:avLst/>
          </a:prstGeom>
          <a:noFill/>
          <a:ln w="47625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5214378" y="2516088"/>
            <a:ext cx="8616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000" dirty="0"/>
          </a:p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($)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5154" y="3233440"/>
            <a:ext cx="131994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600"/>
              </a:spcBef>
              <a:spcAft>
                <a:spcPts val="2600"/>
              </a:spcAft>
              <a:buNone/>
            </a:pPr>
            <a:r>
              <a:rPr lang="en-US" sz="2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+$72.9M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71530" y="4011216"/>
            <a:ext cx="11473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Growth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9900" y="1755279"/>
            <a:ext cx="1943100" cy="3134320"/>
          </a:xfrm>
          <a:prstGeom prst="roundRect">
            <a:avLst>
              <a:gd name="adj" fmla="val 52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819900" y="1779091"/>
            <a:ext cx="1943100" cy="0"/>
          </a:xfrm>
          <a:prstGeom prst="line">
            <a:avLst/>
          </a:prstGeom>
          <a:noFill/>
          <a:ln w="47625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Text 21"/>
          <p:cNvSpPr/>
          <p:nvPr/>
        </p:nvSpPr>
        <p:spPr>
          <a:xfrm>
            <a:off x="7327081" y="2590651"/>
            <a:ext cx="9285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Performing</a:t>
            </a:r>
            <a:endParaRPr lang="en-US" sz="1000" dirty="0"/>
          </a:p>
          <a:p>
            <a:pPr marL="0" indent="0" algn="ctr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44801" y="3257252"/>
            <a:ext cx="10932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43131" y="3936653"/>
            <a:ext cx="1096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$83.1M (+30.6%)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9777"/>
          </a:xfrm>
          <a:prstGeom prst="rect">
            <a:avLst/>
          </a:prstGeom>
          <a:solidFill>
            <a:srgbClr val="0F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069777"/>
          </a:xfrm>
          <a:prstGeom prst="line">
            <a:avLst/>
          </a:prstGeom>
          <a:noFill/>
          <a:ln w="952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552450" y="304651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Trend — 2024 vs.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745927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by Month · Total Company · Actual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291233"/>
            <a:ext cx="2184350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7650" y="1291233"/>
            <a:ext cx="0" cy="1168003"/>
          </a:xfrm>
          <a:prstGeom prst="line">
            <a:avLst/>
          </a:prstGeom>
          <a:noFill/>
          <a:ln w="381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393650" y="1367433"/>
            <a:ext cx="531614" cy="298252"/>
          </a:xfrm>
          <a:prstGeom prst="roundRect">
            <a:avLst>
              <a:gd name="adj" fmla="val 12774"/>
            </a:avLst>
          </a:prstGeom>
          <a:solidFill>
            <a:srgbClr val="E8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051" y="1468934"/>
            <a:ext cx="4129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93650" y="1805285"/>
            <a:ext cx="1930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YoY Uplift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650" y="2052935"/>
            <a:ext cx="1930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month in 2025 beat 2024, avg +$6.1M/month.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" y="2522637"/>
            <a:ext cx="2184350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2522637"/>
            <a:ext cx="0" cy="1168003"/>
          </a:xfrm>
          <a:prstGeom prst="line">
            <a:avLst/>
          </a:prstGeom>
          <a:noFill/>
          <a:ln w="381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393650" y="2598837"/>
            <a:ext cx="373707" cy="298252"/>
          </a:xfrm>
          <a:prstGeom prst="roundRect">
            <a:avLst>
              <a:gd name="adj" fmla="val 12774"/>
            </a:avLst>
          </a:prstGeom>
          <a:solidFill>
            <a:srgbClr val="E8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051" y="2700338"/>
            <a:ext cx="251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93650" y="3036689"/>
            <a:ext cx="1930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2025: $35.9M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650" y="3284339"/>
            <a:ext cx="1930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single month, +$8.1M vs Dec 2024.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" y="3754041"/>
            <a:ext cx="2184350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47650" y="3754041"/>
            <a:ext cx="0" cy="1168003"/>
          </a:xfrm>
          <a:prstGeom prst="line">
            <a:avLst/>
          </a:prstGeom>
          <a:noFill/>
          <a:ln w="381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393650" y="3830241"/>
            <a:ext cx="275034" cy="298252"/>
          </a:xfrm>
          <a:prstGeom prst="roundRect">
            <a:avLst>
              <a:gd name="adj" fmla="val 13853"/>
            </a:avLst>
          </a:prstGeom>
          <a:solidFill>
            <a:srgbClr val="E8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051" y="3931741"/>
            <a:ext cx="1511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93650" y="4268093"/>
            <a:ext cx="1930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Seasonality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650" y="4515743"/>
            <a:ext cx="1930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weakest in both years: $11.0M (2024), $14.1M (2025).</a:t>
            </a:r>
            <a:endParaRPr lang="en-US" sz="8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565350" y="1171277"/>
          <a:ext cx="6350050" cy="3870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9777"/>
          </a:xfrm>
          <a:prstGeom prst="rect">
            <a:avLst/>
          </a:prstGeom>
          <a:solidFill>
            <a:srgbClr val="0F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069777"/>
          </a:xfrm>
          <a:prstGeom prst="line">
            <a:avLst/>
          </a:prstGeom>
          <a:noFill/>
          <a:ln w="952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552450" y="304651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Product Category — 2024 vs.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745927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· Total Company · All Channels · Actual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24749" y="1303883"/>
            <a:ext cx="2616101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39049" y="1481584"/>
            <a:ext cx="2435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(30000)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39049" y="1818084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39049" y="2046684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$97.4M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60282" y="1818084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60282" y="2046684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$174.2M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81516" y="1818084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081516" y="2046684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+78.9%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39049" y="2383185"/>
            <a:ext cx="2387501" cy="25301"/>
          </a:xfrm>
          <a:prstGeom prst="roundRect">
            <a:avLst>
              <a:gd name="adj" fmla="val 100391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24749" y="2522637"/>
            <a:ext cx="2616101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39049" y="2700338"/>
            <a:ext cx="2435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(20000)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39049" y="3036838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39049" y="3265438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$59.1M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60282" y="3036838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60282" y="3265438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$58.5M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81516" y="3036838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81516" y="3265438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-0.9%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9049" y="3601938"/>
            <a:ext cx="2387501" cy="25301"/>
          </a:xfrm>
          <a:prstGeom prst="roundRect">
            <a:avLst>
              <a:gd name="adj" fmla="val 100391"/>
            </a:avLst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24749" y="3741390"/>
            <a:ext cx="2616101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39049" y="3919091"/>
            <a:ext cx="2435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Tablets (40000)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39049" y="4255591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39049" y="4484191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$55.4M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60282" y="4255591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60282" y="4484191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$52.0M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81516" y="4255591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081516" y="4484191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-6.1%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39049" y="4820692"/>
            <a:ext cx="2387501" cy="25301"/>
          </a:xfrm>
          <a:prstGeom prst="roundRect">
            <a:avLst>
              <a:gd name="adj" fmla="val 100391"/>
            </a:avLst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203150" y="1145977"/>
          <a:ext cx="5994648" cy="3921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9777"/>
          </a:xfrm>
          <a:prstGeom prst="rect">
            <a:avLst/>
          </a:prstGeom>
          <a:solidFill>
            <a:srgbClr val="0F20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069777"/>
          </a:xfrm>
          <a:prstGeom prst="line">
            <a:avLst/>
          </a:prstGeom>
          <a:noFill/>
          <a:ln w="952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552450" y="304651"/>
            <a:ext cx="82970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Sales Channel — 2024 vs.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2450" y="745927"/>
            <a:ext cx="8297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· Total Company · All Products · Actual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24749" y="1303883"/>
            <a:ext cx="2616101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39049" y="1481584"/>
            <a:ext cx="2435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(10)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39049" y="1818084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39049" y="2046684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$136.6M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60282" y="1818084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60282" y="2046684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$165.1M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81516" y="1818084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081516" y="2046684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+20.8%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39049" y="2383185"/>
            <a:ext cx="2387501" cy="25301"/>
          </a:xfrm>
          <a:prstGeom prst="roundRect">
            <a:avLst>
              <a:gd name="adj" fmla="val 100391"/>
            </a:avLst>
          </a:prstGeom>
          <a:solidFill>
            <a:srgbClr val="1E9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24749" y="2522637"/>
            <a:ext cx="2616101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39049" y="2700338"/>
            <a:ext cx="2435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(20)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39049" y="3036838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39049" y="3265438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$53.1M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60282" y="3036838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60282" y="3265438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$76.6M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81516" y="3036838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081516" y="3265438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+44.2%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39049" y="3601938"/>
            <a:ext cx="2387501" cy="25301"/>
          </a:xfrm>
          <a:prstGeom prst="roundRect">
            <a:avLst>
              <a:gd name="adj" fmla="val 100391"/>
            </a:avLst>
          </a:prstGeom>
          <a:solidFill>
            <a:srgbClr val="FF8C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24749" y="3741390"/>
            <a:ext cx="2616101" cy="116800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39049" y="3919091"/>
            <a:ext cx="2435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(30)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39049" y="4255591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39049" y="4484191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2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$22.1M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60282" y="4255591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260282" y="4484191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$43.1M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81516" y="4255591"/>
            <a:ext cx="759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081516" y="4484191"/>
            <a:ext cx="7599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+94.8%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39049" y="4820692"/>
            <a:ext cx="2387501" cy="25301"/>
          </a:xfrm>
          <a:prstGeom prst="roundRect">
            <a:avLst>
              <a:gd name="adj" fmla="val 100391"/>
            </a:avLst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203150" y="1145977"/>
          <a:ext cx="5994648" cy="3921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1171129"/>
          </a:xfrm>
          <a:prstGeom prst="line">
            <a:avLst/>
          </a:prstGeom>
          <a:noFill/>
          <a:ln w="9525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653951" y="342751"/>
            <a:ext cx="81935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700"/>
              </a:spcBef>
              <a:spcAft>
                <a:spcPts val="17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53951" y="815727"/>
            <a:ext cx="81935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950"/>
              </a:spcAft>
              <a:buNone/>
            </a:pPr>
            <a:r>
              <a:rPr lang="en-US" sz="950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C1_Revenue Analysis Summary · 2024 to 2025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1272629"/>
            <a:ext cx="4076700" cy="1002953"/>
          </a:xfrm>
          <a:prstGeom prst="roundRect">
            <a:avLst>
              <a:gd name="adj" fmla="val 75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1272629"/>
            <a:ext cx="0" cy="1002953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/>
          <p:nvPr/>
        </p:nvSpPr>
        <p:spPr>
          <a:xfrm>
            <a:off x="647700" y="1469380"/>
            <a:ext cx="38084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GROWTH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7700" y="1701105"/>
            <a:ext cx="38084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Revenue Up +34.4%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7700" y="1951881"/>
            <a:ext cx="3808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A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grew from $211.9M to $284.8M — a $72.9M gain.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351782"/>
            <a:ext cx="4076700" cy="1002953"/>
          </a:xfrm>
          <a:prstGeom prst="roundRect">
            <a:avLst>
              <a:gd name="adj" fmla="val 75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2351782"/>
            <a:ext cx="0" cy="1002953"/>
          </a:xfrm>
          <a:prstGeom prst="line">
            <a:avLst/>
          </a:prstGeom>
          <a:noFill/>
          <a:ln w="38100">
            <a:solidFill>
              <a:srgbClr val="FF8C0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647700" y="2548533"/>
            <a:ext cx="38084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PERFORMER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7700" y="2780258"/>
            <a:ext cx="38084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PCs: +78.9% YoY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7700" y="3031034"/>
            <a:ext cx="3808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A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revenue nearly doubled from $97.4M to $174.2M, driving the bulk of uplift.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430935"/>
            <a:ext cx="4076700" cy="1002953"/>
          </a:xfrm>
          <a:prstGeom prst="roundRect">
            <a:avLst>
              <a:gd name="adj" fmla="val 75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6250" y="3430935"/>
            <a:ext cx="0" cy="1002953"/>
          </a:xfrm>
          <a:prstGeom prst="line">
            <a:avLst/>
          </a:prstGeom>
          <a:noFill/>
          <a:ln w="381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647700" y="3627686"/>
            <a:ext cx="38084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7700" y="3859411"/>
            <a:ext cx="38084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Phones: Flat (-0.9%)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700" y="4110186"/>
            <a:ext cx="3808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A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decline — monitor for continued softness in this category.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11601" y="1272629"/>
            <a:ext cx="4076849" cy="1117253"/>
          </a:xfrm>
          <a:prstGeom prst="roundRect">
            <a:avLst>
              <a:gd name="adj" fmla="val 6820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30651" y="1272629"/>
            <a:ext cx="0" cy="1117253"/>
          </a:xfrm>
          <a:prstGeom prst="line">
            <a:avLst/>
          </a:prstGeom>
          <a:noFill/>
          <a:ln w="381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4902101" y="1469380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SHIFT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02101" y="1701105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Channel +94.8%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02101" y="1951881"/>
            <a:ext cx="380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A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Fastest-growing channel, near-doubling from $22.1M to $43.1M. Internet +44.2%.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11601" y="2466082"/>
            <a:ext cx="4076849" cy="1002953"/>
          </a:xfrm>
          <a:prstGeom prst="roundRect">
            <a:avLst>
              <a:gd name="adj" fmla="val 75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30651" y="2466082"/>
            <a:ext cx="0" cy="1002953"/>
          </a:xfrm>
          <a:prstGeom prst="line">
            <a:avLst/>
          </a:prstGeom>
          <a:noFill/>
          <a:ln w="38100">
            <a:solidFill>
              <a:srgbClr val="A0B8D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Text 25"/>
          <p:cNvSpPr/>
          <p:nvPr/>
        </p:nvSpPr>
        <p:spPr>
          <a:xfrm>
            <a:off x="4902101" y="2662833"/>
            <a:ext cx="38086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A0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02101" y="2894558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&amp; August Patterns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02101" y="3145334"/>
            <a:ext cx="38086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A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strongest ($83.1M in 2025). August remains weakest month in both years.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11601" y="3545235"/>
            <a:ext cx="4076849" cy="917228"/>
          </a:xfrm>
          <a:prstGeom prst="roundRect">
            <a:avLst>
              <a:gd name="adj" fmla="val 8308"/>
            </a:avLst>
          </a:prstGeom>
          <a:solidFill>
            <a:srgbClr val="1E90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64001" y="3773686"/>
            <a:ext cx="38474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001" y="4024461"/>
            <a:ext cx="3847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D0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PC demand · Revitalize Phones · Invest in Indirect channel · Plan for August dip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437</Words>
  <Application>Microsoft Macintosh PowerPoint</Application>
  <PresentationFormat>On-screen Show (16:9)</PresentationFormat>
  <Paragraphs>107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C1_Revenue Variance Analysis 2024 vs 2025</dc:title>
  <dc:subject>PptxGenJS Presentation</dc:subject>
  <dc:creator>IBM Planning Analytics · Region03N</dc:creator>
  <cp:lastModifiedBy>Julien Pradier</cp:lastModifiedBy>
  <cp:revision>2</cp:revision>
  <dcterms:created xsi:type="dcterms:W3CDTF">2026-09-14T14:23:10Z</dcterms:created>
  <dcterms:modified xsi:type="dcterms:W3CDTF">2026-09-14T14:25:58Z</dcterms:modified>
</cp:coreProperties>
</file>